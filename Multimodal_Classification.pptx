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45B618-0A1E-4FE5-9EA7-B4DD1259B31E}">
  <a:tblStyle styleId="{DF45B618-0A1E-4FE5-9EA7-B4DD1259B31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68975" y="274325"/>
            <a:ext cx="1136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 </a:t>
            </a:r>
            <a:r>
              <a:rPr b="1" lang="en-US" sz="2100">
                <a:solidFill>
                  <a:schemeClr val="dk1"/>
                </a:solidFill>
              </a:rPr>
              <a:t>Multimodal Product Categorization</a:t>
            </a:r>
            <a:endParaRPr b="1" sz="2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 27- class classification, French text + product images</a:t>
            </a:r>
            <a:endParaRPr b="1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749808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457200" y="1078992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/>
          <p:nvPr/>
        </p:nvSpPr>
        <p:spPr>
          <a:xfrm>
            <a:off x="745236" y="1417320"/>
            <a:ext cx="329184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45236" y="158191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0.80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45236" y="22402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Macro F1  (Approach 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45236" y="262432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0.74 for Approach B — see Slide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448556" y="1417320"/>
            <a:ext cx="329184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448556" y="158191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15.89 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448556" y="22402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P95 CPU Latency (batch=1)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448556" y="262432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budget: &lt; 30 ms  </a:t>
            </a:r>
            <a:r>
              <a:rPr i="1" lang="en-US" sz="950">
                <a:solidFill>
                  <a:schemeClr val="dk1"/>
                </a:solidFill>
              </a:rPr>
              <a:t>-</a:t>
            </a:r>
            <a:r>
              <a:rPr b="0" i="1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8151876" y="1417320"/>
            <a:ext cx="329184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151876" y="158191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3200"/>
              <a:t>.74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151875" y="2240273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(Approach B)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/>
              <a:t>               0.27 MB</a:t>
            </a: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ONNX Model Size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151876" y="2624328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FP32, no quantization needed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57200" y="33375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was built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57200" y="3657600"/>
            <a:ext cx="112471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Dataset: ziya07/multimodal-e-commerce-dataset</a:t>
            </a:r>
            <a:r>
              <a:rPr lang="en-US" sz="1200"/>
              <a:t>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84,916 listings, 27 product categories, French titles/descriptions + JPEG images.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 A: TF-IDF + Logistic Regression on cleaned French text (classical baseline).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 B: Multimodal fusion network</a:t>
            </a:r>
            <a:r>
              <a:rPr lang="en-US" sz="1200"/>
              <a:t>,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frozen MobileNetV2 image branch + SVD-compressed text branch</a:t>
            </a:r>
            <a:r>
              <a:rPr lang="en-US" sz="1200"/>
              <a:t>,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exported to ONNX for production.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</a:rPr>
              <a:t>Approach B was exported to ONNX because the deployment requirement targets a multimodal production inference pipeline, while Approach A serves as a strong classical baseline for comparison.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" name="Google Shape;33;p3"/>
          <p:cNvSpPr/>
          <p:nvPr/>
        </p:nvSpPr>
        <p:spPr>
          <a:xfrm>
            <a:off x="457200" y="5303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457200" y="562356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/>
              <a:t>F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ully executed Colab notebook (seed=42, reproducible)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/>
              <a:t>m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ultimodal_ecommerce_model.onnx </a:t>
            </a:r>
            <a:r>
              <a:rPr lang="en-US" sz="1200"/>
              <a:t>-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production inference artifact (0.27 MB)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7-slide case study deck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Engineering &amp; Cleaning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749808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Missing text, corrupted images, and French-language preprocessing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4"/>
          <p:cNvCxnSpPr/>
          <p:nvPr/>
        </p:nvCxnSpPr>
        <p:spPr>
          <a:xfrm>
            <a:off x="457200" y="1078992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4"/>
          <p:cNvSpPr/>
          <p:nvPr/>
        </p:nvSpPr>
        <p:spPr>
          <a:xfrm>
            <a:off x="457200" y="12344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Missing 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1536192"/>
            <a:ext cx="5303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missing for 29,800 / 84,916 rows (35.09%); designation present for 100%.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Fix: description.fillna(""), then concatenate designation_clean + description_clean.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row still empty after cleaning -&gt; backfilled with the placeholder string "produit sans description" so no row reaches the model empty.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297180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Corrupted / missing images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3273552"/>
            <a:ext cx="5303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 PyTorch Dataset resolves each row's image path, opens + Image.verify()'s it inside a try/except.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UnidentifiedImageError / OSError / ValueError -&gt; replaced with a fixed gray 224x224 placeholder, never crashes the loader.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across full train + val sets (67,932 + 16,984 images): 0 missing, 0 corrupted (0.0% failure rate).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48920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imbalance (27 classes)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5193792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 A: class_weight="balanced" in Logistic Regression.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 B: computed per-class weights fed into CrossEntropyLoss + a WeightedRandomSampler on the training DataLoader.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400800" y="12344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French text cleaning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223760" y="1554480"/>
            <a:ext cx="347472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7223760" y="1554480"/>
            <a:ext cx="3474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designation + description  (raw)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4"/>
          <p:cNvCxnSpPr/>
          <p:nvPr/>
        </p:nvCxnSpPr>
        <p:spPr>
          <a:xfrm>
            <a:off x="8961120" y="1975104"/>
            <a:ext cx="0" cy="146304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" name="Google Shape;54;p4"/>
          <p:cNvSpPr/>
          <p:nvPr/>
        </p:nvSpPr>
        <p:spPr>
          <a:xfrm>
            <a:off x="7223760" y="2121408"/>
            <a:ext cx="347472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223760" y="2121408"/>
            <a:ext cx="3474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strip HTML tags  /  strip URLs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4"/>
          <p:cNvCxnSpPr/>
          <p:nvPr/>
        </p:nvCxnSpPr>
        <p:spPr>
          <a:xfrm>
            <a:off x="8961120" y="2542032"/>
            <a:ext cx="0" cy="146304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" name="Google Shape;57;p4"/>
          <p:cNvSpPr/>
          <p:nvPr/>
        </p:nvSpPr>
        <p:spPr>
          <a:xfrm>
            <a:off x="7223760" y="2688336"/>
            <a:ext cx="347472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7223760" y="2688336"/>
            <a:ext cx="3474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unidecode()  -&gt;  fold accents to ASCII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4"/>
          <p:cNvCxnSpPr/>
          <p:nvPr/>
        </p:nvCxnSpPr>
        <p:spPr>
          <a:xfrm>
            <a:off x="8961120" y="3108960"/>
            <a:ext cx="0" cy="146304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" name="Google Shape;60;p4"/>
          <p:cNvSpPr/>
          <p:nvPr/>
        </p:nvSpPr>
        <p:spPr>
          <a:xfrm>
            <a:off x="7223760" y="3255264"/>
            <a:ext cx="347472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7223760" y="3255264"/>
            <a:ext cx="3474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lowercase  +  remove non a-z0-9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4"/>
          <p:cNvCxnSpPr/>
          <p:nvPr/>
        </p:nvCxnSpPr>
        <p:spPr>
          <a:xfrm>
            <a:off x="8961120" y="3675888"/>
            <a:ext cx="0" cy="146304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" name="Google Shape;63;p4"/>
          <p:cNvSpPr/>
          <p:nvPr/>
        </p:nvSpPr>
        <p:spPr>
          <a:xfrm>
            <a:off x="7223760" y="3822192"/>
            <a:ext cx="347472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7223760" y="3822192"/>
            <a:ext cx="3474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 digits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4"/>
          <p:cNvCxnSpPr/>
          <p:nvPr/>
        </p:nvCxnSpPr>
        <p:spPr>
          <a:xfrm>
            <a:off x="8961120" y="4242816"/>
            <a:ext cx="0" cy="146304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" name="Google Shape;66;p4"/>
          <p:cNvSpPr/>
          <p:nvPr/>
        </p:nvSpPr>
        <p:spPr>
          <a:xfrm>
            <a:off x="7223760" y="4389120"/>
            <a:ext cx="347472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7223760" y="4389120"/>
            <a:ext cx="3474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 French stopwords (custom list)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4"/>
          <p:cNvCxnSpPr/>
          <p:nvPr/>
        </p:nvCxnSpPr>
        <p:spPr>
          <a:xfrm>
            <a:off x="8961120" y="4809744"/>
            <a:ext cx="0" cy="146304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" name="Google Shape;69;p4"/>
          <p:cNvSpPr/>
          <p:nvPr/>
        </p:nvSpPr>
        <p:spPr>
          <a:xfrm>
            <a:off x="7223760" y="4956048"/>
            <a:ext cx="347472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7223760" y="4956048"/>
            <a:ext cx="3474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join tokens (len &gt; 1)  -&gt;  "text" column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4"/>
          <p:cNvCxnSpPr/>
          <p:nvPr/>
        </p:nvCxnSpPr>
        <p:spPr>
          <a:xfrm>
            <a:off x="8961120" y="5376672"/>
            <a:ext cx="0" cy="146304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" name="Google Shape;72;p4"/>
          <p:cNvSpPr/>
          <p:nvPr/>
        </p:nvSpPr>
        <p:spPr>
          <a:xfrm>
            <a:off x="7223760" y="5522976"/>
            <a:ext cx="3474720" cy="420624"/>
          </a:xfrm>
          <a:prstGeom prst="rect">
            <a:avLst/>
          </a:prstGeom>
          <a:solidFill>
            <a:srgbClr val="D9D9D9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7223760" y="5522976"/>
            <a:ext cx="3474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empty?  -&gt;  "produit sans description"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Multimodal Network 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" y="749808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Approach B — </a:t>
            </a:r>
            <a:r>
              <a:rPr b="1" i="1" lang="en-US" sz="1200" u="none" cap="none" strike="noStrike">
                <a:solidFill>
                  <a:schemeClr val="dk1"/>
                </a:solidFill>
              </a:rPr>
              <a:t>MobileNetV2 (frozen)</a:t>
            </a: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image branch fused with an SVD text branch, in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5"/>
          <p:cNvCxnSpPr/>
          <p:nvPr/>
        </p:nvCxnSpPr>
        <p:spPr>
          <a:xfrm>
            <a:off x="457200" y="1078992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5"/>
          <p:cNvSpPr/>
          <p:nvPr/>
        </p:nvSpPr>
        <p:spPr>
          <a:xfrm>
            <a:off x="548640" y="1371600"/>
            <a:ext cx="33832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548640" y="13716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 (224 x 224 x 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5"/>
          <p:cNvCxnSpPr/>
          <p:nvPr/>
        </p:nvCxnSpPr>
        <p:spPr>
          <a:xfrm>
            <a:off x="2240280" y="182880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7" name="Google Shape;87;p5"/>
          <p:cNvSpPr/>
          <p:nvPr/>
        </p:nvSpPr>
        <p:spPr>
          <a:xfrm>
            <a:off x="548640" y="2011680"/>
            <a:ext cx="338328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548640" y="201168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MobileNetV2 backbone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(ImageNet-pretrained, FROZEN)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5"/>
          <p:cNvCxnSpPr/>
          <p:nvPr/>
        </p:nvCxnSpPr>
        <p:spPr>
          <a:xfrm>
            <a:off x="2240280" y="260604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" name="Google Shape;90;p5"/>
          <p:cNvSpPr/>
          <p:nvPr/>
        </p:nvSpPr>
        <p:spPr>
          <a:xfrm>
            <a:off x="548640" y="2788920"/>
            <a:ext cx="33832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548640" y="278892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AdaptiveAvgPool2d(1)  -&gt;  flatten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1280-d feature vector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5"/>
          <p:cNvCxnSpPr/>
          <p:nvPr/>
        </p:nvCxnSpPr>
        <p:spPr>
          <a:xfrm>
            <a:off x="2240280" y="333756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" name="Google Shape;93;p5"/>
          <p:cNvSpPr/>
          <p:nvPr/>
        </p:nvSpPr>
        <p:spPr>
          <a:xfrm>
            <a:off x="548640" y="3520440"/>
            <a:ext cx="338328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548640" y="352044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vision_head: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Linear(1280 -&gt; 256) + ReLU + Dropout(0.3)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8257032" y="1371600"/>
            <a:ext cx="33832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8257032" y="13716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  (TF-IDF, 30,000-d, French-cleaned)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5"/>
          <p:cNvCxnSpPr/>
          <p:nvPr/>
        </p:nvCxnSpPr>
        <p:spPr>
          <a:xfrm>
            <a:off x="9948672" y="182880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" name="Google Shape;98;p5"/>
          <p:cNvSpPr/>
          <p:nvPr/>
        </p:nvSpPr>
        <p:spPr>
          <a:xfrm>
            <a:off x="8257032" y="2011680"/>
            <a:ext cx="338328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8257032" y="201168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TruncatedSVD  -&gt;  300-d dense embedding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</a:rPr>
              <a:t>(explained variance 26.2%)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5"/>
          <p:cNvCxnSpPr/>
          <p:nvPr/>
        </p:nvCxnSpPr>
        <p:spPr>
          <a:xfrm>
            <a:off x="9948672" y="260604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" name="Google Shape;101;p5"/>
          <p:cNvSpPr/>
          <p:nvPr/>
        </p:nvSpPr>
        <p:spPr>
          <a:xfrm>
            <a:off x="8257032" y="278892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257032" y="2926078"/>
            <a:ext cx="3383400" cy="594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8257032" y="3017515"/>
            <a:ext cx="3383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text_head: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Linear(300 -&gt; 128) + ReLU + Dropout(0.3)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5"/>
          <p:cNvCxnSpPr/>
          <p:nvPr/>
        </p:nvCxnSpPr>
        <p:spPr>
          <a:xfrm>
            <a:off x="2240280" y="411480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" name="Google Shape;105;p5"/>
          <p:cNvCxnSpPr/>
          <p:nvPr/>
        </p:nvCxnSpPr>
        <p:spPr>
          <a:xfrm>
            <a:off x="2493825" y="4351450"/>
            <a:ext cx="3206400" cy="1401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" name="Google Shape;106;p5"/>
          <p:cNvCxnSpPr/>
          <p:nvPr/>
        </p:nvCxnSpPr>
        <p:spPr>
          <a:xfrm flipH="1">
            <a:off x="6374525" y="3805888"/>
            <a:ext cx="3091800" cy="660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" name="Google Shape;107;p5"/>
          <p:cNvSpPr/>
          <p:nvPr/>
        </p:nvSpPr>
        <p:spPr>
          <a:xfrm>
            <a:off x="2802636" y="4617720"/>
            <a:ext cx="6583680" cy="457200"/>
          </a:xfrm>
          <a:prstGeom prst="rect">
            <a:avLst/>
          </a:prstGeom>
          <a:solidFill>
            <a:srgbClr val="D9D9D9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2802636" y="461772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concat( vision_head[256] , text_head[128] )  =  384-d fused vector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5"/>
          <p:cNvCxnSpPr/>
          <p:nvPr/>
        </p:nvCxnSpPr>
        <p:spPr>
          <a:xfrm>
            <a:off x="6094476" y="507492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" name="Google Shape;110;p5"/>
          <p:cNvSpPr/>
          <p:nvPr/>
        </p:nvSpPr>
        <p:spPr>
          <a:xfrm>
            <a:off x="2802636" y="5257800"/>
            <a:ext cx="65836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2802636" y="525780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classifier:  Linear(384 -&gt; 128) + ReLU + Dropout(0.15)  -&gt;  Linear(128 -&gt; 27)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5"/>
          <p:cNvCxnSpPr/>
          <p:nvPr/>
        </p:nvCxnSpPr>
        <p:spPr>
          <a:xfrm>
            <a:off x="6094476" y="571500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3" name="Google Shape;113;p5"/>
          <p:cNvSpPr/>
          <p:nvPr/>
        </p:nvSpPr>
        <p:spPr>
          <a:xfrm>
            <a:off x="4722876" y="5897880"/>
            <a:ext cx="274320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722876" y="58978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logits  (27 classes)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Trainable params: </a:t>
            </a:r>
            <a:r>
              <a:rPr b="1" i="1" lang="en-US" sz="1050" u="none" cap="none" strike="noStrike">
                <a:solidFill>
                  <a:schemeClr val="dk1"/>
                </a:solidFill>
              </a:rPr>
              <a:t>419,227 </a:t>
            </a:r>
            <a:r>
              <a:rPr b="0" i="1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2,643,099 total  (backbone frozen — only heads + classifier train)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Performance Benchmarks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7200" y="749808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Approach A vs. Approach B on the identical stratified held-out split (20%, n=16,984)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6"/>
          <p:cNvCxnSpPr/>
          <p:nvPr/>
        </p:nvCxnSpPr>
        <p:spPr>
          <a:xfrm>
            <a:off x="457200" y="1078992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5" name="Google Shape;125;p6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{DF45B618-0A1E-4FE5-9EA7-B4DD1259B31E}</a:tableStyleId>
              </a:tblPr>
              <a:tblGrid>
                <a:gridCol w="2772925"/>
                <a:gridCol w="2772925"/>
                <a:gridCol w="2772925"/>
                <a:gridCol w="2772925"/>
              </a:tblGrid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Macro F1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Macro Precision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Macro Recall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Approach A — TF-IDF + Logistic Regression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0.7998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0.7981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0.8074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Approach B — Multimodal (MobileNetV2 + text)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0.7370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0.7265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0.7772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6"/>
          <p:cNvSpPr/>
          <p:nvPr/>
        </p:nvSpPr>
        <p:spPr>
          <a:xfrm>
            <a:off x="548675" y="2746713"/>
            <a:ext cx="11091600" cy="10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100">
                <a:solidFill>
                  <a:schemeClr val="dk1"/>
                </a:solidFill>
              </a:rPr>
              <a:t>Although the TF-IDF + Logistic Regression baseline achieved higher Macro F1 on this dataset, the multimodal network provides a deployable architecture capable of leveraging both visual and textual information. The multimodal approach was exported to ONNX to satisfy production deployment and latency requirements.</a:t>
            </a:r>
            <a:endParaRPr i="1"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t/>
            </a:r>
            <a:endParaRPr i="1" sz="1100">
              <a:solidFill>
                <a:srgbClr val="595959"/>
              </a:solidFill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48615" y="3547505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Overfitting / Underfitting Check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94365" y="3940315"/>
            <a:ext cx="53949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548640" y="4029390"/>
            <a:ext cx="53949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 A (LR)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Acc 0.872  |  Test Acc 0.811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F1   0.8715 |  Test F1   0.7998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/>
              <a:t>Train - Test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Gap ~ </a:t>
            </a:r>
            <a:r>
              <a:rPr b="1" i="0" lang="en-US" sz="1050" u="none" cap="none" strike="noStrike">
                <a:solidFill>
                  <a:srgbClr val="000000"/>
                </a:solidFill>
              </a:rPr>
              <a:t>6-7%</a:t>
            </a: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-&gt;  mild overfitting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Train/test both high  -&gt;  not underfitting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245352" y="3943803"/>
            <a:ext cx="53949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245352" y="3943915"/>
            <a:ext cx="53949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 B (NN)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 macro F1 by epoch: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0.576 -&gt; 0.666 -&gt; 0.685 -&gt; 0.699 -&gt; 0.712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0.727 -&gt; 0.716 -&gt; 0.737 (best, ep.8) -&gt; 0.736 -&gt; 0.733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Frozen backbone + dropout 0.3 + weight decay 1e-5 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 clipping + early stopping (patience 3) keep the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train/val gap controlled despite only 419K trainable params.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50165" y="5949630"/>
            <a:ext cx="1109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Weakest class overall: </a:t>
            </a:r>
            <a:r>
              <a:rPr i="1" lang="en-US" sz="1050">
                <a:solidFill>
                  <a:schemeClr val="dk1"/>
                </a:solidFill>
              </a:rPr>
              <a:t>C</a:t>
            </a:r>
            <a:r>
              <a:rPr b="0" i="1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lass 10 (precision 0.43 </a:t>
            </a:r>
            <a:r>
              <a:rPr i="1" lang="en-US" sz="1050">
                <a:solidFill>
                  <a:schemeClr val="dk1"/>
                </a:solidFill>
              </a:rPr>
              <a:t>, </a:t>
            </a:r>
            <a:r>
              <a:rPr b="0" i="1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recall 0.67)</a:t>
            </a:r>
            <a:r>
              <a:rPr i="1" lang="en-US" sz="1050">
                <a:solidFill>
                  <a:schemeClr val="dk1"/>
                </a:solidFill>
              </a:rPr>
              <a:t> likely due to ambiguity and vocabulary overlap with neighboring categories.</a:t>
            </a:r>
            <a:endParaRPr i="1"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None/>
            </a:pPr>
            <a:r>
              <a:t/>
            </a:r>
            <a:endParaRPr i="1" sz="1050">
              <a:solidFill>
                <a:schemeClr val="dk1"/>
              </a:solidFill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Inference Optimization &amp; Latency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57200" y="749808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ONNX export, PyTorch/ONNX parity, and single-thread CPU batch-1 benchmarking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7"/>
          <p:cNvCxnSpPr/>
          <p:nvPr/>
        </p:nvCxnSpPr>
        <p:spPr>
          <a:xfrm>
            <a:off x="457200" y="1078992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7"/>
          <p:cNvSpPr/>
          <p:nvPr/>
        </p:nvSpPr>
        <p:spPr>
          <a:xfrm>
            <a:off x="548640" y="128016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ONNX export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48640" y="1572768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torch.onnx.export, opset_version=17, do_constant_folding=True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dynamic_axes on batch dim for image, text_features and logits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onnx.checker.check_model(...) passes; exported size = 0.27 MB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48640" y="260604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PyTorch &lt;-&gt; ONNX parity check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48640" y="2898648"/>
            <a:ext cx="5394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 random (image, text) pairs run through both PyTorch and ONNXRuntime CPU provider.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Result: </a:t>
            </a:r>
            <a:r>
              <a:rPr b="1" lang="en-US" sz="1100"/>
              <a:t>Numerical Parity Verified</a:t>
            </a:r>
            <a:r>
              <a:rPr lang="en-US" sz="1100"/>
              <a:t>,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abs diff = 0.000061  (tolerance 1e-4).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Export is asserted correct before any benchmarking or shipping.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48640" y="41605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Benchmark setup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48640" y="4453128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intra_op_num_threads=1, inter_op_num_threads=1, sequential execution mode, graph optimization = 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size 1, 30 warm-up runs, then 1,000 timed iterations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400800" y="1325880"/>
            <a:ext cx="52120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400800" y="132588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P50 = 9.89 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400800" y="1920240"/>
            <a:ext cx="5212080" cy="502920"/>
          </a:xfrm>
          <a:prstGeom prst="rect">
            <a:avLst/>
          </a:prstGeom>
          <a:solidFill>
            <a:srgbClr val="D9D9D9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400800" y="192024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P95 = 15.89 ms   (budget: &lt; 30 ms)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400800" y="2514600"/>
            <a:ext cx="52120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400800" y="251460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P99 = 17.34 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400800" y="315468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Result: FP32 model already meets the 30 ms P95 production budget on a single CPU thread.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400800" y="3794760"/>
            <a:ext cx="521208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6400800" y="379476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P95 &gt;= 30 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9006840" y="4206240"/>
            <a:ext cx="0" cy="16459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7"/>
          <p:cNvSpPr/>
          <p:nvPr/>
        </p:nvSpPr>
        <p:spPr>
          <a:xfrm>
            <a:off x="6400800" y="4370832"/>
            <a:ext cx="52120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6400800" y="4370832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quantize_dynamic()  -&gt;  INT8 weights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re-run parity + re-benchmark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7"/>
          <p:cNvCxnSpPr/>
          <p:nvPr/>
        </p:nvCxnSpPr>
        <p:spPr>
          <a:xfrm>
            <a:off x="9006840" y="4873752"/>
            <a:ext cx="0" cy="16459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7"/>
          <p:cNvSpPr/>
          <p:nvPr/>
        </p:nvSpPr>
        <p:spPr>
          <a:xfrm>
            <a:off x="6400800" y="5038344"/>
            <a:ext cx="5212080" cy="548640"/>
          </a:xfrm>
          <a:prstGeom prst="rect">
            <a:avLst/>
          </a:prstGeom>
          <a:solidFill>
            <a:srgbClr val="D9D9D9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6401050" y="5038350"/>
            <a:ext cx="5212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Quantization was not applied because the FP32 model already satisfied the latency target (P95 = 15.89 ms).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/>
          </a:p>
        </p:txBody>
      </p:sp>
      <p:sp>
        <p:nvSpPr>
          <p:cNvPr id="163" name="Google Shape;163;p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458725" y="172520"/>
            <a:ext cx="1127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Qualitative Failure Analysis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57200" y="877926"/>
            <a:ext cx="112746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Approach B validation errors — 4,125 / 16,984 misclassified (24.3%</a:t>
            </a:r>
            <a:r>
              <a:rPr b="0" i="1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1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i="1" lang="en-US" sz="1200">
                <a:solidFill>
                  <a:schemeClr val="dk1"/>
                </a:solidFill>
              </a:rPr>
              <a:t>Representative validation errors are shown below.</a:t>
            </a:r>
            <a:endParaRPr i="1" sz="1200">
              <a:solidFill>
                <a:schemeClr val="dk1"/>
              </a:solidFill>
            </a:endParaRPr>
          </a:p>
        </p:txBody>
      </p:sp>
      <p:cxnSp>
        <p:nvCxnSpPr>
          <p:cNvPr id="171" name="Google Shape;171;p8"/>
          <p:cNvCxnSpPr/>
          <p:nvPr/>
        </p:nvCxnSpPr>
        <p:spPr>
          <a:xfrm>
            <a:off x="457200" y="1325867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72" name="Google Shape;172;p8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{DF45B618-0A1E-4FE5-9EA7-B4DD1259B31E}</a:tableStyleId>
              </a:tblPr>
              <a:tblGrid>
                <a:gridCol w="4206250"/>
                <a:gridCol w="822950"/>
                <a:gridCol w="822950"/>
                <a:gridCol w="542240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Cleaned text (excerpt)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Likely cause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"lot marque page signets lot" (bookmark lot)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2403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2522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Very short, generic text — sits on the paper/stationery vs. book-accessory boundary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office cleaning wipes for electronics/IT surfaces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1320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2585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mixes "cleaning product" and "informatics" vocabulary — overlaps two categories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RC car air-filter / intake simulator accessory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1280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1300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Toy-vehicle accessory vs. toy-vehicle category — adjacent, frequently confused classes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filtration pump, fiberglass, technical spec sheet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2583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2585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Technical/equipment vocabulary shared across neighboring home-equipment classes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"xbox go"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2 tokens — extreme text sparsity; console sub-category ambiguity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" name="Google Shape;173;p8"/>
          <p:cNvSpPr/>
          <p:nvPr/>
        </p:nvSpPr>
        <p:spPr>
          <a:xfrm>
            <a:off x="457200" y="4800600"/>
            <a:ext cx="112745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Pattern: in these examples text and image are not in conflict — the image is generic/uninformative and the text itself is short or shares vocabulary with a neighboring class. Errors cluster on genuinely ambiguous, low-information listings rather than on modality disagreement.</a:t>
            </a:r>
            <a:endParaRPr b="0" i="1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Arial"/>
              <a:buNone/>
            </a:pPr>
            <a:r>
              <a:t/>
            </a:r>
            <a:endParaRPr i="1" sz="1150">
              <a:solidFill>
                <a:srgbClr val="595959"/>
              </a:solidFill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Production Microservice 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57200" y="749808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Deploying the ONNX model as a REST API on AWS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9"/>
          <p:cNvCxnSpPr/>
          <p:nvPr/>
        </p:nvCxnSpPr>
        <p:spPr>
          <a:xfrm>
            <a:off x="457200" y="1078992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9"/>
          <p:cNvSpPr/>
          <p:nvPr/>
        </p:nvSpPr>
        <p:spPr>
          <a:xfrm>
            <a:off x="950976" y="1417320"/>
            <a:ext cx="23317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950976" y="141732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(web / mobile app)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9"/>
          <p:cNvCxnSpPr/>
          <p:nvPr/>
        </p:nvCxnSpPr>
        <p:spPr>
          <a:xfrm>
            <a:off x="3282696" y="1714500"/>
            <a:ext cx="32004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9"/>
          <p:cNvSpPr/>
          <p:nvPr/>
        </p:nvSpPr>
        <p:spPr>
          <a:xfrm>
            <a:off x="3602736" y="1417320"/>
            <a:ext cx="23317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3602736" y="141732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Application Load Balancer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9"/>
          <p:cNvCxnSpPr/>
          <p:nvPr/>
        </p:nvCxnSpPr>
        <p:spPr>
          <a:xfrm>
            <a:off x="5934456" y="1714500"/>
            <a:ext cx="32004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" name="Google Shape;189;p9"/>
          <p:cNvSpPr/>
          <p:nvPr/>
        </p:nvSpPr>
        <p:spPr>
          <a:xfrm>
            <a:off x="6254496" y="1417320"/>
            <a:ext cx="23317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6254496" y="141732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API service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(FastAPI, containerized)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9"/>
          <p:cNvCxnSpPr/>
          <p:nvPr/>
        </p:nvCxnSpPr>
        <p:spPr>
          <a:xfrm>
            <a:off x="8586216" y="1714500"/>
            <a:ext cx="32004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2" name="Google Shape;192;p9"/>
          <p:cNvSpPr/>
          <p:nvPr/>
        </p:nvSpPr>
        <p:spPr>
          <a:xfrm>
            <a:off x="8906256" y="1417320"/>
            <a:ext cx="23317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8906256" y="141732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ONNX Runtime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inference (CPU)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9"/>
          <p:cNvCxnSpPr/>
          <p:nvPr/>
        </p:nvCxnSpPr>
        <p:spPr>
          <a:xfrm>
            <a:off x="3602736" y="2057400"/>
            <a:ext cx="7315200" cy="0"/>
          </a:xfrm>
          <a:prstGeom prst="straightConnector1">
            <a:avLst/>
          </a:prstGeom>
          <a:noFill/>
          <a:ln cap="flat" cmpd="sng" w="12700">
            <a:solidFill>
              <a:srgbClr val="595959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95" name="Google Shape;195;p9"/>
          <p:cNvSpPr/>
          <p:nvPr/>
        </p:nvSpPr>
        <p:spPr>
          <a:xfrm>
            <a:off x="3602736" y="21214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prediction response (category + confidence)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117336" y="1216152"/>
            <a:ext cx="5257800" cy="978408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6117336" y="1216152"/>
            <a:ext cx="5257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AWS ECS Fargate — auto-scaling task group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9"/>
          <p:cNvCxnSpPr/>
          <p:nvPr/>
        </p:nvCxnSpPr>
        <p:spPr>
          <a:xfrm>
            <a:off x="10072116" y="2011680"/>
            <a:ext cx="0" cy="50292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" name="Google Shape;199;p9"/>
          <p:cNvSpPr/>
          <p:nvPr/>
        </p:nvSpPr>
        <p:spPr>
          <a:xfrm>
            <a:off x="7991856" y="2514600"/>
            <a:ext cx="41605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7991856" y="251460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— versioned model artifact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(multimodal_ecommerce_model.onnx)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950976" y="3429000"/>
            <a:ext cx="23317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950976" y="342900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repo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(model + service code)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9"/>
          <p:cNvCxnSpPr/>
          <p:nvPr/>
        </p:nvCxnSpPr>
        <p:spPr>
          <a:xfrm>
            <a:off x="3282696" y="3726180"/>
            <a:ext cx="32004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" name="Google Shape;204;p9"/>
          <p:cNvSpPr/>
          <p:nvPr/>
        </p:nvSpPr>
        <p:spPr>
          <a:xfrm>
            <a:off x="3602736" y="3429000"/>
            <a:ext cx="23317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3602736" y="342900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CI/CD pipeline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(build + test + push image)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9"/>
          <p:cNvCxnSpPr/>
          <p:nvPr/>
        </p:nvCxnSpPr>
        <p:spPr>
          <a:xfrm>
            <a:off x="5934456" y="3726180"/>
            <a:ext cx="32004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7" name="Google Shape;207;p9"/>
          <p:cNvSpPr/>
          <p:nvPr/>
        </p:nvSpPr>
        <p:spPr>
          <a:xfrm>
            <a:off x="6254496" y="3429000"/>
            <a:ext cx="23317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6254496" y="342900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(Docker image registry)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9"/>
          <p:cNvCxnSpPr/>
          <p:nvPr/>
        </p:nvCxnSpPr>
        <p:spPr>
          <a:xfrm rot="10800000">
            <a:off x="7420356" y="2029968"/>
            <a:ext cx="0" cy="13990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" name="Google Shape;210;p9"/>
          <p:cNvCxnSpPr/>
          <p:nvPr/>
        </p:nvCxnSpPr>
        <p:spPr>
          <a:xfrm>
            <a:off x="7420356" y="201168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9"/>
          <p:cNvSpPr/>
          <p:nvPr/>
        </p:nvSpPr>
        <p:spPr>
          <a:xfrm>
            <a:off x="950976" y="4389120"/>
            <a:ext cx="10287000" cy="457200"/>
          </a:xfrm>
          <a:prstGeom prst="rect">
            <a:avLst/>
          </a:prstGeom>
          <a:solidFill>
            <a:srgbClr val="D9D9D9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950976" y="4389120"/>
            <a:ext cx="1028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CloudWatch — logs, latency (P50/P95/P99), error-rate alarms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9"/>
          <p:cNvCxnSpPr/>
          <p:nvPr/>
        </p:nvCxnSpPr>
        <p:spPr>
          <a:xfrm>
            <a:off x="8666226" y="2011680"/>
            <a:ext cx="0" cy="237744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" name="Google Shape;214;p9"/>
          <p:cNvSpPr/>
          <p:nvPr/>
        </p:nvSpPr>
        <p:spPr>
          <a:xfrm>
            <a:off x="457200" y="498348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Notes: same ONNX Runtime session config used for benchmarking (single-thread, ORT_ENABLE_ALL) runs inside the container; horizontal auto-scaling handles throughput instead of per-request threading; model artifact is versioned in S3 so rollback is a config change, not a redeploy.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380188" y="5623550"/>
            <a:ext cx="4160400" cy="16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Future Improvements</a:t>
            </a:r>
            <a:endParaRPr b="1" sz="11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Vision Transformers (ViT/CLIP)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INT8 Quantization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Better multimodal fusion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Knowledge Distillation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